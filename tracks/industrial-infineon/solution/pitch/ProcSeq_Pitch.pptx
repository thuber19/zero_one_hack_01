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30s. Hook: a chip recipe is a long ordered sequence; we taught a model its grammar and built a hybrid that guarantees valid output. Three tasks plus a hidden out-of-distribution family. Team ProcSeq.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40s. Process routes are long and order-sensitive — 10 hard rules, some spanning 15 steps. The track explicitly asks whether a model LEARNS the logic or memorizes, and grades generalization on an unseen 4th product family.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30s. The trick: one process step = one token (vocab 210). Two from-scratch Transformers — a decoder that writes routes and a DeBERTa encoder that judges them, trained on valid-vs-broken twins so it learns WHY a route is invalid.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40s — KEY SLIDE. 'Model proposes, physics disposes.' Learned models supply plausibility; a deterministic rule engine (identical to the official validator) supplies correctness. Neural can be confidently wrong; rules can't rank. Together you get valid AND likely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35s. Same two components, three wirings. Task 1: top-5 + legal-first re-sort. Task 2: rule-vetoed beam search with repair → guaranteed-valid completion. Task 3: contrastive encoder for a graded score, rule engine for the hard verdict.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35s. Real numbers, official scorer, held-out split, from the completed ProcSeq run. Task1: Top-5 perfect, Top-1 0.77, and 0.96 next-OPERATION accuracy → it learned function, not just names. Task2: block-level 0.92 and 100% rule-valid completions. Task3, be honest: the learned encoder alone is ~chance (AUC 0.61), so the physics hybrid gives the exact in-distribution verdict. Organizer hidden test + 4th-family OOD still pending.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20s close. Our differentiator is honesty: floor-to-ceiling ladder, logic probe, and a novel-vocab OOD test we designed to break our own model. Hybrid gives 0 illegal outputs. Fully reproducible on Leonardo. Thank you — questions?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85216"/>
            <a:ext cx="310896" cy="45720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45720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5A45"/>
                </a:solidFill>
                <a:latin typeface="Consolas"/>
              </a:rPr>
              <a:t>ZERO-ONE HACK 2026 · INFINEON · INDUSTRIAL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400"/>
              </a:spcAft>
            </a:pPr>
            <a:r>
              <a:rPr sz="5800" b="1">
                <a:solidFill>
                  <a:srgbClr val="E8EDF5"/>
                </a:solidFill>
                <a:latin typeface="Arial"/>
              </a:rPr>
              <a:t>Process Logic, </a:t>
            </a:r>
            <a:r>
              <a:rPr sz="5800" b="1">
                <a:solidFill>
                  <a:srgbClr val="FF5A45"/>
                </a:solidFill>
                <a:latin typeface="Arial"/>
              </a:rPr>
              <a:t>Learned.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7863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9FB0C8"/>
                </a:solidFill>
                <a:latin typeface="Arial"/>
              </a:rPr>
              <a:t>A hybrid neural–symbolic pipeline that learns the hidden grammar of semiconductor manufacturing — and proves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526280"/>
            <a:ext cx="1345996" cy="420624"/>
          </a:xfrm>
          <a:prstGeom prst="roundRect">
            <a:avLst>
              <a:gd name="adj" fmla="val 50000"/>
            </a:avLst>
          </a:prstGeom>
          <a:solidFill>
            <a:srgbClr val="0E1626"/>
          </a:solidFill>
          <a:ln w="13970">
            <a:solidFill>
              <a:srgbClr val="EC00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526280"/>
            <a:ext cx="1345996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FB3AD"/>
                </a:solidFill>
                <a:latin typeface="Consolas"/>
              </a:rPr>
              <a:t>Next-step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51836" y="4526280"/>
            <a:ext cx="1444752" cy="420624"/>
          </a:xfrm>
          <a:prstGeom prst="roundRect">
            <a:avLst>
              <a:gd name="adj" fmla="val 50000"/>
            </a:avLst>
          </a:prstGeom>
          <a:solidFill>
            <a:srgbClr val="0E1626"/>
          </a:solidFill>
          <a:ln w="13970">
            <a:solidFill>
              <a:srgbClr val="EC00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1836" y="4526280"/>
            <a:ext cx="144475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FB3AD"/>
                </a:solidFill>
                <a:latin typeface="Consolas"/>
              </a:rPr>
              <a:t>Completion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9468" y="4526280"/>
            <a:ext cx="2136038" cy="420624"/>
          </a:xfrm>
          <a:prstGeom prst="roundRect">
            <a:avLst>
              <a:gd name="adj" fmla="val 50000"/>
            </a:avLst>
          </a:prstGeom>
          <a:solidFill>
            <a:srgbClr val="0E1626"/>
          </a:solidFill>
          <a:ln w="13970">
            <a:solidFill>
              <a:srgbClr val="EC00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9468" y="4526280"/>
            <a:ext cx="213603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FB3AD"/>
                </a:solidFill>
                <a:latin typeface="Consolas"/>
              </a:rPr>
              <a:t>Anomaly detection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8387" y="4526280"/>
            <a:ext cx="2728569" cy="420624"/>
          </a:xfrm>
          <a:prstGeom prst="roundRect">
            <a:avLst>
              <a:gd name="adj" fmla="val 50000"/>
            </a:avLst>
          </a:prstGeom>
          <a:solidFill>
            <a:srgbClr val="0E1626"/>
          </a:solidFill>
          <a:ln w="1397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8387" y="4526280"/>
            <a:ext cx="272856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FB0C8"/>
                </a:solidFill>
                <a:latin typeface="Consolas"/>
              </a:rPr>
              <a:t>+ hidden 4th-family OOD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4406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8EDF5"/>
                </a:solidFill>
                <a:latin typeface="Arial"/>
              </a:rPr>
              <a:t>Team TBD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B7C99"/>
                </a:solidFill>
                <a:latin typeface="Consolas"/>
              </a:rPr>
              <a:t>Tobias Huber · Mina Mikail · Khaled El Yamany · Fathy Shalaby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85216"/>
            <a:ext cx="310896" cy="45720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45720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5A45"/>
                </a:solidFill>
                <a:latin typeface="Consola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E8EDF5"/>
                </a:solidFill>
                <a:latin typeface="Arial"/>
              </a:rPr>
              <a:t>A chip is a </a:t>
            </a:r>
            <a:r>
              <a:rPr sz="3300" b="1">
                <a:solidFill>
                  <a:srgbClr val="FF5A45"/>
                </a:solidFill>
                <a:latin typeface="Arial"/>
              </a:rPr>
              <a:t>150-step sentence</a:t>
            </a:r>
            <a:r>
              <a:rPr sz="3300" b="1">
                <a:solidFill>
                  <a:srgbClr val="E8EDF5"/>
                </a:solidFill>
                <a:latin typeface="Arial"/>
              </a:rPr>
              <a:t> where order is physics.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0"/>
              </a:spcAft>
            </a:pPr>
            <a:r>
              <a:rPr sz="1800" b="0">
                <a:solidFill>
                  <a:srgbClr val="EC0016"/>
                </a:solidFill>
                <a:latin typeface="Consolas"/>
              </a:rPr>
              <a:t>▸  </a:t>
            </a:r>
            <a:r>
              <a:rPr sz="1800" b="0">
                <a:solidFill>
                  <a:srgbClr val="9FB0C8"/>
                </a:solidFill>
                <a:latin typeface="Arial"/>
              </a:rPr>
              <a:t>Every wafer runs an ordered route: </a:t>
            </a:r>
            <a:r>
              <a:rPr sz="1800" b="1">
                <a:solidFill>
                  <a:srgbClr val="E8EDF5"/>
                </a:solidFill>
                <a:latin typeface="Arial"/>
              </a:rPr>
              <a:t>clean → oxidize → pattern → etch → implant → … → test → ship</a:t>
            </a:r>
            <a:r>
              <a:rPr sz="1800" b="0">
                <a:solidFill>
                  <a:srgbClr val="9FB0C8"/>
                </a:solidFill>
                <a:latin typeface="Arial"/>
              </a:rPr>
              <a:t>  (~115–150 steps, 3 families).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0"/>
              </a:spcAft>
            </a:pPr>
            <a:r>
              <a:rPr sz="1800" b="0">
                <a:solidFill>
                  <a:srgbClr val="EC0016"/>
                </a:solidFill>
                <a:latin typeface="Consolas"/>
              </a:rPr>
              <a:t>▸  </a:t>
            </a:r>
            <a:r>
              <a:rPr sz="1800" b="0">
                <a:solidFill>
                  <a:srgbClr val="9FB0C8"/>
                </a:solidFill>
                <a:latin typeface="Arial"/>
              </a:rPr>
              <a:t>Order encodes real constraints: </a:t>
            </a:r>
            <a:r>
              <a:rPr sz="1800" b="1">
                <a:solidFill>
                  <a:srgbClr val="E8EDF5"/>
                </a:solidFill>
                <a:latin typeface="Arial"/>
              </a:rPr>
              <a:t>no etch before a mask, no deposit on a dirty surface, no ship before sort-test</a:t>
            </a:r>
            <a:r>
              <a:rPr sz="1800" b="0">
                <a:solidFill>
                  <a:srgbClr val="9FB0C8"/>
                </a:solidFill>
                <a:latin typeface="Arial"/>
              </a:rPr>
              <a:t> — 10 long-range rules.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0"/>
              </a:spcAft>
            </a:pPr>
            <a:r>
              <a:rPr sz="1800" b="0">
                <a:solidFill>
                  <a:srgbClr val="EC0016"/>
                </a:solidFill>
                <a:latin typeface="Consolas"/>
              </a:rPr>
              <a:t>▸  </a:t>
            </a:r>
            <a:r>
              <a:rPr sz="1800" b="0">
                <a:solidFill>
                  <a:srgbClr val="9FB0C8"/>
                </a:solidFill>
                <a:latin typeface="Arial"/>
              </a:rPr>
              <a:t>The judges' real question: does the model learn the process </a:t>
            </a:r>
            <a:r>
              <a:rPr sz="1800" b="1">
                <a:solidFill>
                  <a:srgbClr val="FF5A45"/>
                </a:solidFill>
                <a:latin typeface="Arial"/>
              </a:rPr>
              <a:t>logic</a:t>
            </a:r>
            <a:r>
              <a:rPr sz="1800" b="0">
                <a:solidFill>
                  <a:srgbClr val="9FB0C8"/>
                </a:solidFill>
                <a:latin typeface="Arial"/>
              </a:rPr>
              <a:t>, or just memorize patterns?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0"/>
              </a:spcAft>
            </a:pPr>
            <a:r>
              <a:rPr sz="1800" b="0">
                <a:solidFill>
                  <a:srgbClr val="EC0016"/>
                </a:solidFill>
                <a:latin typeface="Consolas"/>
              </a:rPr>
              <a:t>▸  </a:t>
            </a:r>
            <a:r>
              <a:rPr sz="1800" b="0">
                <a:solidFill>
                  <a:srgbClr val="9FB0C8"/>
                </a:solidFill>
                <a:latin typeface="Arial"/>
              </a:rPr>
              <a:t>And it's graded on a </a:t>
            </a:r>
            <a:r>
              <a:rPr sz="1800" b="1">
                <a:solidFill>
                  <a:srgbClr val="E8EDF5"/>
                </a:solidFill>
                <a:latin typeface="Arial"/>
              </a:rPr>
              <a:t>hidden 4th family</a:t>
            </a:r>
            <a:r>
              <a:rPr sz="1800" b="0">
                <a:solidFill>
                  <a:srgbClr val="9FB0C8"/>
                </a:solidFill>
                <a:latin typeface="Arial"/>
              </a:rPr>
              <a:t> never seen in training.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85216"/>
            <a:ext cx="310896" cy="45720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45720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5A45"/>
                </a:solidFill>
                <a:latin typeface="Consolas"/>
              </a:rPr>
              <a:t>THE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E8EDF5"/>
                </a:solidFill>
                <a:latin typeface="Arial"/>
              </a:rPr>
              <a:t>Treat a recipe like a </a:t>
            </a:r>
            <a:r>
              <a:rPr sz="3300" b="1">
                <a:solidFill>
                  <a:srgbClr val="FF5A45"/>
                </a:solidFill>
                <a:latin typeface="Arial"/>
              </a:rPr>
              <a:t>sentence</a:t>
            </a:r>
            <a:r>
              <a:rPr sz="3300" b="1">
                <a:solidFill>
                  <a:srgbClr val="E8EDF5"/>
                </a:solidFill>
                <a:latin typeface="Arial"/>
              </a:rPr>
              <a:t>. One step = one word.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606040"/>
            <a:ext cx="3392424" cy="2331720"/>
          </a:xfrm>
          <a:prstGeom prst="roundRect">
            <a:avLst>
              <a:gd name="adj" fmla="val 8000"/>
            </a:avLst>
          </a:prstGeom>
          <a:solidFill>
            <a:srgbClr val="141E32"/>
          </a:solidFill>
          <a:ln w="15875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825496"/>
            <a:ext cx="2880360" cy="18928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FF5A45"/>
                </a:solidFill>
                <a:latin typeface="Consolas"/>
              </a:rPr>
              <a:t>TOKENIZER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FB0C8"/>
                </a:solidFill>
                <a:latin typeface="Arial"/>
              </a:rPr>
              <a:t>A custom atomic-step tokenizer — each whole step is one token (vocab 210). No sub-word fragmentation; recipes read and write like language.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9704" y="2606040"/>
            <a:ext cx="3392424" cy="2331720"/>
          </a:xfrm>
          <a:prstGeom prst="roundRect">
            <a:avLst>
              <a:gd name="adj" fmla="val 8000"/>
            </a:avLst>
          </a:prstGeom>
          <a:solidFill>
            <a:srgbClr val="141E32"/>
          </a:solidFill>
          <a:ln w="15875">
            <a:solidFill>
              <a:srgbClr val="367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45736" y="2825496"/>
            <a:ext cx="2880360" cy="18928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E8EDF5"/>
                </a:solidFill>
                <a:latin typeface="Arial"/>
              </a:rPr>
              <a:t>The Writer · </a:t>
            </a:r>
            <a:r>
              <a:rPr sz="1200" b="1">
                <a:solidFill>
                  <a:srgbClr val="FF5A45"/>
                </a:solidFill>
                <a:latin typeface="Consolas"/>
              </a:rPr>
              <a:t>DECODER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FB0C8"/>
                </a:solidFill>
                <a:latin typeface="Arial"/>
              </a:rPr>
              <a:t>A from-scratch Llama-style causal Transformer that generates — next step &amp; completion (Tasks 1–2). Attention does long-range lookups an LSTM can't.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56448" y="2606040"/>
            <a:ext cx="3392424" cy="2331720"/>
          </a:xfrm>
          <a:prstGeom prst="roundRect">
            <a:avLst>
              <a:gd name="adj" fmla="val 8000"/>
            </a:avLst>
          </a:prstGeom>
          <a:solidFill>
            <a:srgbClr val="141E32"/>
          </a:solidFill>
          <a:ln w="15875">
            <a:solidFill>
              <a:srgbClr val="EC00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2825496"/>
            <a:ext cx="2880360" cy="18928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E8EDF5"/>
                </a:solidFill>
                <a:latin typeface="Arial"/>
              </a:rPr>
              <a:t>The Judge · </a:t>
            </a:r>
            <a:r>
              <a:rPr sz="1200" b="1">
                <a:solidFill>
                  <a:srgbClr val="FF5A45"/>
                </a:solidFill>
                <a:latin typeface="Consolas"/>
              </a:rPr>
              <a:t>ENCODER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FB0C8"/>
                </a:solidFill>
                <a:latin typeface="Arial"/>
              </a:rPr>
              <a:t>A from-scratch DeBERTa-v2 encoder that classifies validity + which rule broke (Task 3), trained with contrastive hard-negative twins.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2120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9FB0C8"/>
                </a:solidFill>
                <a:latin typeface="Arial"/>
              </a:rPr>
              <a:t>Two specialized Transformers, trained from scratch — no pretrained model, full control of the vocabulary, interpretable representations.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85216"/>
            <a:ext cx="310896" cy="45720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45720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5A45"/>
                </a:solidFill>
                <a:latin typeface="Consolas"/>
              </a:rPr>
              <a:t>OUR APPROACH · THE HYBRID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E8EDF5"/>
                </a:solidFill>
                <a:latin typeface="Arial"/>
              </a:rPr>
              <a:t>The model proposes. </a:t>
            </a:r>
            <a:r>
              <a:rPr sz="3300" b="1">
                <a:solidFill>
                  <a:srgbClr val="FF5A45"/>
                </a:solidFill>
                <a:latin typeface="Arial"/>
              </a:rPr>
              <a:t>Physics disposes.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743200"/>
            <a:ext cx="3154680" cy="2286000"/>
          </a:xfrm>
          <a:prstGeom prst="roundRect">
            <a:avLst>
              <a:gd name="adj" fmla="val 7000"/>
            </a:avLst>
          </a:prstGeom>
          <a:solidFill>
            <a:srgbClr val="141E32"/>
          </a:solidFill>
          <a:ln w="17780">
            <a:solidFill>
              <a:srgbClr val="367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" y="2944368"/>
            <a:ext cx="2679192" cy="1883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6B7C99"/>
                </a:solidFill>
                <a:latin typeface="Consolas"/>
              </a:rPr>
              <a:t>NEURAL — PLAUSIBILITY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E8EDF5"/>
                </a:solidFill>
                <a:latin typeface="Arial"/>
              </a:rPr>
              <a:t>Decoder + Encoder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FB0C8"/>
                </a:solidFill>
                <a:latin typeface="Arial"/>
              </a:rPr>
              <a:t>Learn the grammar from data. Rank likely next steps, generate fluent completions, and output a real probability of validity.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54296" y="2743200"/>
            <a:ext cx="3154680" cy="2286000"/>
          </a:xfrm>
          <a:prstGeom prst="roundRect">
            <a:avLst>
              <a:gd name="adj" fmla="val 7000"/>
            </a:avLst>
          </a:prstGeom>
          <a:solidFill>
            <a:srgbClr val="141E32"/>
          </a:solidFill>
          <a:ln w="17780">
            <a:solidFill>
              <a:srgbClr val="EC00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92040" y="2944368"/>
            <a:ext cx="2679192" cy="1883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6B7C99"/>
                </a:solidFill>
                <a:latin typeface="Consolas"/>
              </a:rPr>
              <a:t>SYMBOLIC — CORRECTNESS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E8EDF5"/>
                </a:solidFill>
                <a:latin typeface="Arial"/>
              </a:rPr>
              <a:t>Physics Refinery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FB0C8"/>
                </a:solidFill>
                <a:latin typeface="Arial"/>
              </a:rPr>
              <a:t>A deterministic rule engine (≡ the official validator). Vetoes illegal steps, repairs dead-ends, certifies the verdict.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85632" y="2743200"/>
            <a:ext cx="3154680" cy="2286000"/>
          </a:xfrm>
          <a:prstGeom prst="roundRect">
            <a:avLst>
              <a:gd name="adj" fmla="val 7000"/>
            </a:avLst>
          </a:prstGeom>
          <a:solidFill>
            <a:srgbClr val="141E32"/>
          </a:solidFill>
          <a:ln w="1778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23376" y="2944368"/>
            <a:ext cx="2679192" cy="1883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6B7C99"/>
                </a:solidFill>
                <a:latin typeface="Consolas"/>
              </a:rPr>
              <a:t>OUTPUT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E8EDF5"/>
                </a:solidFill>
                <a:latin typeface="Arial"/>
              </a:rPr>
              <a:t>Best of both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FB0C8"/>
                </a:solidFill>
                <a:latin typeface="Arial"/>
              </a:rPr>
              <a:t>Guaranteed-valid routes that are also likely — “the model decided, the rules certify it.”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069080" y="3685032"/>
            <a:ext cx="493776" cy="402336"/>
          </a:xfrm>
          <a:prstGeom prst="rightArrow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7900416" y="3685032"/>
            <a:ext cx="493776" cy="402336"/>
          </a:xfrm>
          <a:prstGeom prst="rightArrow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44068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E8EDF5"/>
                </a:solidFill>
                <a:latin typeface="Consolas"/>
              </a:rPr>
              <a:t>Neural alone can be </a:t>
            </a:r>
            <a:r>
              <a:rPr sz="1650" b="0">
                <a:solidFill>
                  <a:srgbClr val="FF5A45"/>
                </a:solidFill>
                <a:latin typeface="Consolas"/>
              </a:rPr>
              <a:t>confidently wrong</a:t>
            </a:r>
            <a:r>
              <a:rPr sz="1650" b="0">
                <a:solidFill>
                  <a:srgbClr val="E8EDF5"/>
                </a:solidFill>
                <a:latin typeface="Consolas"/>
              </a:rPr>
              <a:t>; rules alone can't say what's </a:t>
            </a:r>
            <a:r>
              <a:rPr sz="1650" b="0">
                <a:solidFill>
                  <a:srgbClr val="FF5A45"/>
                </a:solidFill>
                <a:latin typeface="Consolas"/>
              </a:rPr>
              <a:t>likely</a:t>
            </a:r>
            <a:r>
              <a:rPr sz="1650" b="0">
                <a:solidFill>
                  <a:srgbClr val="E8EDF5"/>
                </a:solidFill>
                <a:latin typeface="Consolas"/>
              </a:rPr>
              <a:t>. The hybrid covers both blind spots.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85216"/>
            <a:ext cx="310896" cy="45720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45720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5A45"/>
                </a:solidFill>
                <a:latin typeface="Consolas"/>
              </a:rPr>
              <a:t>HOW WE TACKLED THE 3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E8EDF5"/>
                </a:solidFill>
                <a:latin typeface="Arial"/>
              </a:rPr>
              <a:t>One hybrid, wired </a:t>
            </a:r>
            <a:r>
              <a:rPr sz="3300" b="1">
                <a:solidFill>
                  <a:srgbClr val="FF5A45"/>
                </a:solidFill>
                <a:latin typeface="Arial"/>
              </a:rPr>
              <a:t>three ways.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606040"/>
            <a:ext cx="3392424" cy="2331720"/>
          </a:xfrm>
          <a:prstGeom prst="roundRect">
            <a:avLst>
              <a:gd name="adj" fmla="val 8000"/>
            </a:avLst>
          </a:prstGeom>
          <a:solidFill>
            <a:srgbClr val="141E32"/>
          </a:solidFill>
          <a:ln w="15875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825496"/>
            <a:ext cx="2880360" cy="18928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FF5A45"/>
                </a:solidFill>
                <a:latin typeface="Consolas"/>
              </a:rPr>
              <a:t>1</a:t>
            </a:r>
            <a:r>
              <a:rPr sz="1700" b="1">
                <a:solidFill>
                  <a:srgbClr val="E8EDF5"/>
                </a:solidFill>
                <a:latin typeface="Arial"/>
              </a:rPr>
              <a:t>   Next-step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FB0C8"/>
                </a:solidFill>
                <a:latin typeface="Arial"/>
              </a:rPr>
              <a:t>Decoder's top-5 candidates, then the Refinery floats the legal ones to the top. Cannot hurt a good model; rescues a bad rank.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9704" y="2606040"/>
            <a:ext cx="3392424" cy="2331720"/>
          </a:xfrm>
          <a:prstGeom prst="roundRect">
            <a:avLst>
              <a:gd name="adj" fmla="val 8000"/>
            </a:avLst>
          </a:prstGeom>
          <a:solidFill>
            <a:srgbClr val="141E32"/>
          </a:solidFill>
          <a:ln w="15875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45736" y="2825496"/>
            <a:ext cx="2880360" cy="18928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FF5A45"/>
                </a:solidFill>
                <a:latin typeface="Consolas"/>
              </a:rPr>
              <a:t>2</a:t>
            </a:r>
            <a:r>
              <a:rPr sz="1700" b="1">
                <a:solidFill>
                  <a:srgbClr val="E8EDF5"/>
                </a:solidFill>
                <a:latin typeface="Arial"/>
              </a:rPr>
              <a:t>   Completion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FB0C8"/>
                </a:solidFill>
                <a:latin typeface="Arial"/>
              </a:rPr>
              <a:t>Decoder proposes; rule-vetoed beam search + repair (beam 5, branch 8). Every emitted suffix is provably valid.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56448" y="2606040"/>
            <a:ext cx="3392424" cy="2331720"/>
          </a:xfrm>
          <a:prstGeom prst="roundRect">
            <a:avLst>
              <a:gd name="adj" fmla="val 8000"/>
            </a:avLst>
          </a:prstGeom>
          <a:solidFill>
            <a:srgbClr val="141E32"/>
          </a:solidFill>
          <a:ln w="15875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2825496"/>
            <a:ext cx="2880360" cy="18928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FF5A45"/>
                </a:solidFill>
                <a:latin typeface="Consolas"/>
              </a:rPr>
              <a:t>3</a:t>
            </a:r>
            <a:r>
              <a:rPr sz="1700" b="1">
                <a:solidFill>
                  <a:srgbClr val="E8EDF5"/>
                </a:solidFill>
                <a:latin typeface="Arial"/>
              </a:rPr>
              <a:t>   Anomaly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FB0C8"/>
                </a:solidFill>
                <a:latin typeface="Arial"/>
              </a:rPr>
              <a:t>Contrastive encoder learns WHY a route is invalid; rule engine gives the verdict, the model gives the graded score (real ROC-AUC).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2120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9FB0C8"/>
                </a:solidFill>
                <a:latin typeface="Arial"/>
              </a:rPr>
              <a:t>Generative tasks use the writer; the discriminative task uses the judge — each with a guarantee the learned model can't make alone.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85216"/>
            <a:ext cx="310896" cy="45720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45720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5A45"/>
                </a:solidFill>
                <a:latin typeface="Consolas"/>
              </a:rPr>
              <a:t>RESULTS · OFFICIAL SCORER, HELD-OUT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>
                <a:solidFill>
                  <a:srgbClr val="E8EDF5"/>
                </a:solidFill>
                <a:latin typeface="Arial"/>
              </a:rPr>
              <a:t>It works — and we can </a:t>
            </a:r>
            <a:r>
              <a:rPr sz="3100" b="1">
                <a:solidFill>
                  <a:srgbClr val="FF5A45"/>
                </a:solidFill>
                <a:latin typeface="Arial"/>
              </a:rPr>
              <a:t>prove it learned</a:t>
            </a:r>
            <a:r>
              <a:rPr sz="3100" b="1">
                <a:solidFill>
                  <a:srgbClr val="E8EDF5"/>
                </a:solidFill>
                <a:latin typeface="Arial"/>
              </a:rPr>
              <a:t>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468880"/>
          <a:ext cx="10515600" cy="23317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4572000"/>
                <a:gridCol w="3200400"/>
              </a:tblGrid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6B7C99"/>
                          </a:solidFill>
                          <a:latin typeface="Consolas"/>
                        </a:rPr>
                        <a:t>Task</a:t>
                      </a:r>
                    </a:p>
                  </a:txBody>
                  <a:tcPr anchor="ctr" marL="146304" marR="91440" marT="36576" marB="36576">
                    <a:solidFill>
                      <a:srgbClr val="0E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6B7C99"/>
                          </a:solidFill>
                          <a:latin typeface="Consolas"/>
                        </a:rPr>
                        <a:t>Headline</a:t>
                      </a:r>
                    </a:p>
                  </a:txBody>
                  <a:tcPr anchor="ctr" marL="146304" marR="91440" marT="36576" marB="36576">
                    <a:solidFill>
                      <a:srgbClr val="0E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6B7C99"/>
                          </a:solidFill>
                          <a:latin typeface="Consolas"/>
                        </a:rPr>
                        <a:t>Also</a:t>
                      </a:r>
                    </a:p>
                  </a:txBody>
                  <a:tcPr anchor="ctr" marL="146304" marR="91440" marT="36576" marB="36576">
                    <a:solidFill>
                      <a:srgbClr val="0E1626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E8EDF5"/>
                          </a:solidFill>
                          <a:latin typeface="Arial"/>
                        </a:rPr>
                        <a:t>1 · Next-step</a:t>
                      </a:r>
                    </a:p>
                  </a:txBody>
                  <a:tcPr anchor="ctr" marL="146304" marR="91440" marT="36576" marB="36576">
                    <a:solidFill>
                      <a:srgbClr val="14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5A45"/>
                          </a:solidFill>
                          <a:latin typeface="Consolas"/>
                        </a:rPr>
                        <a:t>Top-5 1.000  ·  Top-1 0.772</a:t>
                      </a:r>
                    </a:p>
                  </a:txBody>
                  <a:tcPr anchor="ctr" marL="146304" marR="91440" marT="36576" marB="36576">
                    <a:solidFill>
                      <a:srgbClr val="14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9FB0C8"/>
                          </a:solidFill>
                          <a:latin typeface="Consolas"/>
                        </a:rPr>
                        <a:t>MRR 0.88</a:t>
                      </a:r>
                    </a:p>
                  </a:txBody>
                  <a:tcPr anchor="ctr" marL="146304" marR="91440" marT="36576" marB="36576">
                    <a:solidFill>
                      <a:srgbClr val="141E32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E8EDF5"/>
                          </a:solidFill>
                          <a:latin typeface="Arial"/>
                        </a:rPr>
                        <a:t>2 · Completion</a:t>
                      </a:r>
                    </a:p>
                  </a:txBody>
                  <a:tcPr anchor="ctr" marL="146304" marR="91440" marT="36576" marB="36576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5A45"/>
                          </a:solidFill>
                          <a:latin typeface="Consolas"/>
                        </a:rPr>
                        <a:t>Block-level 0.92  ·  100% rule-valid</a:t>
                      </a:r>
                    </a:p>
                  </a:txBody>
                  <a:tcPr anchor="ctr" marL="146304" marR="91440" marT="36576" marB="36576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9FB0C8"/>
                          </a:solidFill>
                          <a:latin typeface="Consolas"/>
                        </a:rPr>
                        <a:t>token 0.57 · exact 0.14</a:t>
                      </a:r>
                    </a:p>
                  </a:txBody>
                  <a:tcPr anchor="ctr" marL="146304" marR="91440" marT="36576" marB="36576">
                    <a:solidFill>
                      <a:srgbClr val="0B1220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E8EDF5"/>
                          </a:solidFill>
                          <a:latin typeface="Arial"/>
                        </a:rPr>
                        <a:t>3 · Anomaly</a:t>
                      </a:r>
                    </a:p>
                  </a:txBody>
                  <a:tcPr anchor="ctr" marL="146304" marR="91440" marT="36576" marB="36576">
                    <a:solidFill>
                      <a:srgbClr val="14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5A45"/>
                          </a:solidFill>
                          <a:latin typeface="Consolas"/>
                        </a:rPr>
                        <a:t>Hybrid verdict — exact in-dist</a:t>
                      </a:r>
                    </a:p>
                  </a:txBody>
                  <a:tcPr anchor="ctr" marL="146304" marR="91440" marT="36576" marB="36576">
                    <a:solidFill>
                      <a:srgbClr val="14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9FB0C8"/>
                          </a:solidFill>
                          <a:latin typeface="Consolas"/>
                        </a:rPr>
                        <a:t>encoder alone AUC 0.61 (honest)</a:t>
                      </a:r>
                    </a:p>
                  </a:txBody>
                  <a:tcPr anchor="ctr" marL="146304" marR="91440" marT="36576" marB="36576">
                    <a:solidFill>
                      <a:srgbClr val="141E32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E8EDF5"/>
                          </a:solidFill>
                          <a:latin typeface="Arial"/>
                        </a:rPr>
                        <a:t>Understanding</a:t>
                      </a:r>
                    </a:p>
                  </a:txBody>
                  <a:tcPr anchor="ctr" marL="146304" marR="91440" marT="36576" marB="36576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5A45"/>
                          </a:solidFill>
                          <a:latin typeface="Consolas"/>
                        </a:rPr>
                        <a:t>0.963 next-operation acc</a:t>
                      </a:r>
                    </a:p>
                  </a:txBody>
                  <a:tcPr anchor="ctr" marL="146304" marR="91440" marT="36576" marB="36576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9FB0C8"/>
                          </a:solidFill>
                          <a:latin typeface="Consolas"/>
                        </a:rPr>
                        <a:t>learns function, not just names</a:t>
                      </a:r>
                    </a:p>
                  </a:txBody>
                  <a:tcPr anchor="ctr" marL="146304" marR="91440" marT="36576" marB="36576"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4983480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FB0C8"/>
                </a:solidFill>
                <a:latin typeface="Consolas"/>
              </a:rPr>
              <a:t>learns </a:t>
            </a:r>
            <a:r>
              <a:rPr sz="1300" b="1">
                <a:solidFill>
                  <a:srgbClr val="FF5A45"/>
                </a:solidFill>
                <a:latin typeface="Consolas"/>
              </a:rPr>
              <a:t>function</a:t>
            </a:r>
            <a:r>
              <a:rPr sz="1300" b="0">
                <a:solidFill>
                  <a:srgbClr val="9FB0C8"/>
                </a:solidFill>
                <a:latin typeface="Consolas"/>
              </a:rPr>
              <a:t>, not just names: predicts the right </a:t>
            </a:r>
            <a:r>
              <a:rPr sz="1300" b="1">
                <a:solidFill>
                  <a:srgbClr val="FF5A45"/>
                </a:solidFill>
                <a:latin typeface="Consolas"/>
              </a:rPr>
              <a:t>operation 96% of the time</a:t>
            </a:r>
            <a:r>
              <a:rPr sz="1300" b="0">
                <a:solidFill>
                  <a:srgbClr val="9FB0C8"/>
                </a:solidFill>
                <a:latin typeface="Consolas"/>
              </a:rPr>
              <a:t>   ·   completions are 100% rule-valid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2356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9FB0C8"/>
                </a:solidFill>
                <a:latin typeface="Arial"/>
              </a:rPr>
              <a:t>Honest provenance: </a:t>
            </a:r>
            <a:r>
              <a:rPr sz="1050" b="0">
                <a:solidFill>
                  <a:srgbClr val="6B7C99"/>
                </a:solidFill>
                <a:latin typeface="Arial"/>
              </a:rPr>
              <a:t>real numbers from the organizer's official scorer on a held-out self-eval split, from the completed ProcSeq Leonardo run (base, 16k steps). The learned anomaly encoder alone is weak (AUC 0.61) — the physics hybrid carries Task 3. Organizer hidden-test and 4th-family OOD are pending.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85216"/>
            <a:ext cx="310896" cy="45720"/>
          </a:xfrm>
          <a:prstGeom prst="rect">
            <a:avLst/>
          </a:prstGeom>
          <a:solidFill>
            <a:srgbClr val="EC0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45720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5A45"/>
                </a:solidFill>
                <a:latin typeface="Consolas"/>
              </a:rPr>
              <a:t>WHY THIS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0584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8EDF5"/>
                </a:solidFill>
                <a:latin typeface="Arial"/>
              </a:rPr>
              <a:t>We measured </a:t>
            </a:r>
            <a:r>
              <a:rPr sz="3000" b="1">
                <a:solidFill>
                  <a:srgbClr val="FF5A45"/>
                </a:solidFill>
                <a:latin typeface="Arial"/>
              </a:rPr>
              <a:t>whether the model learned</a:t>
            </a:r>
            <a:r>
              <a:rPr sz="3000" b="1">
                <a:solidFill>
                  <a:srgbClr val="E8EDF5"/>
                </a:solidFill>
                <a:latin typeface="Arial"/>
              </a:rPr>
              <a:t> — not just that it scored.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926080"/>
            <a:ext cx="3392424" cy="2194560"/>
          </a:xfrm>
          <a:prstGeom prst="roundRect">
            <a:avLst>
              <a:gd name="adj" fmla="val 8000"/>
            </a:avLst>
          </a:prstGeom>
          <a:solidFill>
            <a:srgbClr val="141E32"/>
          </a:solidFill>
          <a:ln w="15875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3145536"/>
            <a:ext cx="2880360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E8EDF5"/>
                </a:solidFill>
                <a:latin typeface="Arial"/>
              </a:rPr>
              <a:t>Honest evaluation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FB0C8"/>
                </a:solidFill>
                <a:latin typeface="Arial"/>
              </a:rPr>
              <a:t>Every number sits between an n-gram floor and a rule-oracle ceiling, plus a logic probe &amp; a novel-vocabulary OOD stress test we built to make it fail.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9704" y="2926080"/>
            <a:ext cx="3392424" cy="2194560"/>
          </a:xfrm>
          <a:prstGeom prst="roundRect">
            <a:avLst>
              <a:gd name="adj" fmla="val 8000"/>
            </a:avLst>
          </a:prstGeom>
          <a:solidFill>
            <a:srgbClr val="141E32"/>
          </a:solidFill>
          <a:ln w="15875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45736" y="3145536"/>
            <a:ext cx="2880360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E8EDF5"/>
                </a:solidFill>
                <a:latin typeface="Arial"/>
              </a:rPr>
              <a:t>Hybrid &amp; robust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FB0C8"/>
                </a:solidFill>
                <a:latin typeface="Arial"/>
              </a:rPr>
              <a:t>Learned plausibility + symbolic guarantees → 0 illegal outputs, a calibratable anomaly score, and a graceful OOD story.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56448" y="2926080"/>
            <a:ext cx="3392424" cy="2194560"/>
          </a:xfrm>
          <a:prstGeom prst="roundRect">
            <a:avLst>
              <a:gd name="adj" fmla="val 8000"/>
            </a:avLst>
          </a:prstGeom>
          <a:solidFill>
            <a:srgbClr val="141E32"/>
          </a:solidFill>
          <a:ln w="15875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3145536"/>
            <a:ext cx="2880360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E8EDF5"/>
                </a:solidFill>
                <a:latin typeface="Arial"/>
              </a:rPr>
              <a:t>Reproducible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FB0C8"/>
                </a:solidFill>
                <a:latin typeface="Arial"/>
              </a:rPr>
              <a:t>make smoke in &lt;1 min; one command trains the full pipeline on Leonardo. Unit tests, fixed seeds, fully open stack.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440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E8EDF5"/>
                </a:solidFill>
                <a:latin typeface="Arial"/>
              </a:rPr>
              <a:t>ProcSeq</a:t>
            </a:r>
            <a:r>
              <a:rPr sz="1700" b="0">
                <a:solidFill>
                  <a:srgbClr val="9FB0C8"/>
                </a:solidFill>
                <a:latin typeface="Arial"/>
              </a:rPr>
              <a:t> — process logic, learned, guaranteed, and honestly benchmarked.   </a:t>
            </a:r>
            <a:r>
              <a:rPr sz="1700" b="1">
                <a:solidFill>
                  <a:srgbClr val="FF5A45"/>
                </a:solidFill>
                <a:latin typeface="Arial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
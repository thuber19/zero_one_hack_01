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Hook: a chip recipe is a long ordered sequence; we taught a model its grammar and built a hybrid that guarantees valid output. Three tasks plus a hidden out-of-distribution family. Team ProcSeq.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40s. Process routes are long and order-sensitive — 10 hard rules, some spanning 15 steps. The track explicitly asks whether a model LEARNS the logic or memorizes, and grades generalization on an unseen 4th product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The trick: one process step = one token (vocab 210). Two from-scratch Transformers — a decoder that writes routes and a DeBERTa encoder that judges them, trained on valid-vs-broken twins so it learns WHY a route is invalid.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 — KEY SLIDE. 'Model proposes, physics disposes.' Learned models supply plausibility; a deterministic rule engine (identical to the official validator) supplies correctness. Neural can be confidently wrong; rules can't rank. Together you get valid AND likely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Same two components, three wirings. Task 1: top-5 + legal-first re-sort. Task 2: rule-vetoed beam search with repair → guaranteed-valid completion. Task 3: contrastive encoder for a graded score, rule engine for the hard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Real numbers, official scorer, held-out split, from the completed ProcSeq run. Task1: Top-5 perfect, Top-1 0.94 (hybrid), and 0.998 next-OPERATION accuracy → it learned function, not just names. Task2: block-level 0.94 and 100% rule-valid completions. Task3, be honest: the learned encoder alone is ~chance (AUC 0.49, collapses to all-valid), so the physics hybrid gives the exact verdict (F1 1.0, rule-attr 0.97). Hidden test + OOD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The evidence it LEARNED, not memorized: 0.998 next-operation accuracy (right step type, not just a name); 100% rule-valid completions (the physics guarantee); and we're honest that the learned anomaly encoder is ~chance (AUC 0.49) so the hybrid carries Task 3. All held-out, official scorer; hidden test + OOD marked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20s close. Concrete next steps: scaling curve, an ontology input channel so the encoder can read an unseen family, the honest novel-vocab OOD curve, and score calibration + per-family breakdown. ProcSeq: process logic, learned, guaranteed, and honestly benchmarked. Thank you —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ZERO-ONE HACK 2026 · INFINEON · INDUSTRIAL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400"/>
              </a:spcAft>
            </a:pPr>
            <a:r>
              <a:rPr sz="5800" b="1">
                <a:solidFill>
                  <a:srgbClr val="E8EDF5"/>
                </a:solidFill>
                <a:latin typeface="Arial"/>
              </a:rPr>
              <a:t>Process Logic, </a:t>
            </a:r>
            <a:r>
              <a:rPr sz="5800" b="1">
                <a:solidFill>
                  <a:srgbClr val="FF5A45"/>
                </a:solidFill>
                <a:latin typeface="Arial"/>
              </a:rPr>
              <a:t>Learned.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9FB0C8"/>
                </a:solidFill>
                <a:latin typeface="Arial"/>
              </a:rPr>
              <a:t>A hybrid neural–symbolic pipeline that learns the hidden grammar of semiconductor manufacturing — and proves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526280"/>
            <a:ext cx="1345996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3459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Next-step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51836" y="4526280"/>
            <a:ext cx="1444752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1836" y="4526280"/>
            <a:ext cx="14447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Completion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9468" y="4526280"/>
            <a:ext cx="2136038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9468" y="4526280"/>
            <a:ext cx="213603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Anomaly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8387" y="4526280"/>
            <a:ext cx="2728569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8387" y="4526280"/>
            <a:ext cx="272856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8"/>
                </a:solidFill>
                <a:latin typeface="Consolas"/>
              </a:rPr>
              <a:t>+ hidden 4th-family OOD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40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EDF5"/>
                </a:solidFill>
                <a:latin typeface="Arial"/>
              </a:rPr>
              <a:t>Team TBD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B7C99"/>
                </a:solidFill>
                <a:latin typeface="Consolas"/>
              </a:rPr>
              <a:t>Tobias Huber · Mina Mikail · Khaled El Yamany · Fathy Shalaby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A chip is a </a:t>
            </a:r>
            <a:r>
              <a:rPr sz="3300" b="1">
                <a:solidFill>
                  <a:srgbClr val="FF5A45"/>
                </a:solidFill>
                <a:latin typeface="Arial"/>
              </a:rPr>
              <a:t>150-step sentence</a:t>
            </a:r>
            <a:r>
              <a:rPr sz="3300" b="1">
                <a:solidFill>
                  <a:srgbClr val="E8EDF5"/>
                </a:solidFill>
                <a:latin typeface="Arial"/>
              </a:rPr>
              <a:t> where order is physics.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Every wafer runs an ordered route: </a:t>
            </a:r>
            <a:r>
              <a:rPr sz="1800" b="1">
                <a:solidFill>
                  <a:srgbClr val="E8EDF5"/>
                </a:solidFill>
                <a:latin typeface="Arial"/>
              </a:rPr>
              <a:t>clean → oxidize → pattern → etch → implant → … → test → ship</a:t>
            </a:r>
            <a:r>
              <a:rPr sz="1800" b="0">
                <a:solidFill>
                  <a:srgbClr val="9FB0C8"/>
                </a:solidFill>
                <a:latin typeface="Arial"/>
              </a:rPr>
              <a:t>  (~115–150 steps, 3 families).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Order encodes real constraints: </a:t>
            </a:r>
            <a:r>
              <a:rPr sz="1800" b="1">
                <a:solidFill>
                  <a:srgbClr val="E8EDF5"/>
                </a:solidFill>
                <a:latin typeface="Arial"/>
              </a:rPr>
              <a:t>no etch before a mask, no deposit on a dirty surface, no ship before sort-test</a:t>
            </a:r>
            <a:r>
              <a:rPr sz="1800" b="0">
                <a:solidFill>
                  <a:srgbClr val="9FB0C8"/>
                </a:solidFill>
                <a:latin typeface="Arial"/>
              </a:rPr>
              <a:t> — 10 long-range rules.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The judges' real question: does the model learn the process </a:t>
            </a:r>
            <a:r>
              <a:rPr sz="1800" b="1">
                <a:solidFill>
                  <a:srgbClr val="FF5A45"/>
                </a:solidFill>
                <a:latin typeface="Arial"/>
              </a:rPr>
              <a:t>logic</a:t>
            </a:r>
            <a:r>
              <a:rPr sz="1800" b="0">
                <a:solidFill>
                  <a:srgbClr val="9FB0C8"/>
                </a:solidFill>
                <a:latin typeface="Arial"/>
              </a:rPr>
              <a:t>, or just memorize patterns?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And it's graded on a </a:t>
            </a:r>
            <a:r>
              <a:rPr sz="1800" b="1">
                <a:solidFill>
                  <a:srgbClr val="E8EDF5"/>
                </a:solidFill>
                <a:latin typeface="Arial"/>
              </a:rPr>
              <a:t>hidden 4th family</a:t>
            </a:r>
            <a:r>
              <a:rPr sz="1800" b="0">
                <a:solidFill>
                  <a:srgbClr val="9FB0C8"/>
                </a:solidFill>
                <a:latin typeface="Arial"/>
              </a:rPr>
              <a:t> never seen in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Treat a recipe like a </a:t>
            </a:r>
            <a:r>
              <a:rPr sz="3300" b="1">
                <a:solidFill>
                  <a:srgbClr val="FF5A45"/>
                </a:solidFill>
                <a:latin typeface="Arial"/>
              </a:rPr>
              <a:t>sentence</a:t>
            </a:r>
            <a:r>
              <a:rPr sz="3300" b="1">
                <a:solidFill>
                  <a:srgbClr val="E8EDF5"/>
                </a:solidFill>
                <a:latin typeface="Arial"/>
              </a:rPr>
              <a:t>. One step = one word.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FF5A45"/>
                </a:solidFill>
                <a:latin typeface="Consolas"/>
              </a:rPr>
              <a:t>TOKENIZER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custom atomic-step tokenizer — each whole step is one token (vocab 210). No sub-word fragmentation; recipes read and write like 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36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Writer · </a:t>
            </a:r>
            <a:r>
              <a:rPr sz="1200" b="1">
                <a:solidFill>
                  <a:srgbClr val="FF5A45"/>
                </a:solidFill>
                <a:latin typeface="Consolas"/>
              </a:rPr>
              <a:t>DECODER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from-scratch Llama-style causal Transformer that generates — next step &amp; completion (Tasks 1–2). Attention does long-range lookups an LSTM can't.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Judge · </a:t>
            </a:r>
            <a:r>
              <a:rPr sz="1200" b="1">
                <a:solidFill>
                  <a:srgbClr val="FF5A45"/>
                </a:solidFill>
                <a:latin typeface="Consolas"/>
              </a:rPr>
              <a:t>ENCODER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from-scratch DeBERTa-v2 encoder that classifies validity + which rule broke (Task 3), trained with contrastive hard-negative twins.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8"/>
                </a:solidFill>
                <a:latin typeface="Arial"/>
              </a:rPr>
              <a:t>Two specialized Transformers, trained from scratch — no pretrained model, full control of the vocabulary, interpretable representations.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OUR APPROACH · THE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The model proposes. </a:t>
            </a:r>
            <a:r>
              <a:rPr sz="3300" b="1">
                <a:solidFill>
                  <a:srgbClr val="FF5A45"/>
                </a:solidFill>
                <a:latin typeface="Arial"/>
              </a:rPr>
              <a:t>Physics disposes.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36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NEURAL — PLAUSIBILITY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Decoder + Encoder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Learn the grammar from data. Rank likely next steps, generate fluent completions, and output a real probability of validity.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4296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SYMBOLIC — CORRECTNESS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Physics Refinery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deterministic rule engine (≡ the official validator). Vetoes illegal steps, repairs dead-ends, certifies the verdict.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85632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23376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OUTPUT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Best of both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Guaranteed-valid routes that are also likely — “the model decided, the rules certify it.”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69080" y="3685032"/>
            <a:ext cx="493776" cy="402336"/>
          </a:xfrm>
          <a:prstGeom prst="rightArrow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900416" y="3685032"/>
            <a:ext cx="493776" cy="402336"/>
          </a:xfrm>
          <a:prstGeom prst="rightArrow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EDF5"/>
                </a:solidFill>
                <a:latin typeface="Consolas"/>
              </a:rPr>
              <a:t>Neural alone can be </a:t>
            </a:r>
            <a:r>
              <a:rPr sz="1650" b="0">
                <a:solidFill>
                  <a:srgbClr val="FF5A45"/>
                </a:solidFill>
                <a:latin typeface="Consolas"/>
              </a:rPr>
              <a:t>confidently wrong</a:t>
            </a:r>
            <a:r>
              <a:rPr sz="1650" b="0">
                <a:solidFill>
                  <a:srgbClr val="E8EDF5"/>
                </a:solidFill>
                <a:latin typeface="Consolas"/>
              </a:rPr>
              <a:t>; rules alone can't say what's </a:t>
            </a:r>
            <a:r>
              <a:rPr sz="1650" b="0">
                <a:solidFill>
                  <a:srgbClr val="FF5A45"/>
                </a:solidFill>
                <a:latin typeface="Consolas"/>
              </a:rPr>
              <a:t>likely</a:t>
            </a:r>
            <a:r>
              <a:rPr sz="1650" b="0">
                <a:solidFill>
                  <a:srgbClr val="E8EDF5"/>
                </a:solidFill>
                <a:latin typeface="Consolas"/>
              </a:rPr>
              <a:t>. The hybrid covers both blind spots.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HOW WE TACKLED THE 3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One hybrid, wired </a:t>
            </a:r>
            <a:r>
              <a:rPr sz="3300" b="1">
                <a:solidFill>
                  <a:srgbClr val="FF5A45"/>
                </a:solidFill>
                <a:latin typeface="Arial"/>
              </a:rPr>
              <a:t>three 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1</a:t>
            </a:r>
            <a:r>
              <a:rPr sz="1700" b="1">
                <a:solidFill>
                  <a:srgbClr val="E8EDF5"/>
                </a:solidFill>
                <a:latin typeface="Arial"/>
              </a:rPr>
              <a:t>   Next-step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Decoder's top-5 candidates, then the Refinery floats the legal ones to the top. Cannot hurt a good model; rescues a bad rank.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2</a:t>
            </a:r>
            <a:r>
              <a:rPr sz="1700" b="1">
                <a:solidFill>
                  <a:srgbClr val="E8EDF5"/>
                </a:solidFill>
                <a:latin typeface="Arial"/>
              </a:rPr>
              <a:t>   Completion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Decoder proposes; rule-vetoed beam search + repair (beam 5, branch 8). Every emitted suffix is provably valid.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3</a:t>
            </a:r>
            <a:r>
              <a:rPr sz="1700" b="1">
                <a:solidFill>
                  <a:srgbClr val="E8EDF5"/>
                </a:solidFill>
                <a:latin typeface="Arial"/>
              </a:rPr>
              <a:t>   Anomaly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Contrastive encoder learns WHY a route is invalid; rule engine gives the verdict, the model gives the graded score (real ROC-AUC).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8"/>
                </a:solidFill>
                <a:latin typeface="Arial"/>
              </a:rPr>
              <a:t>Generative tasks use the writer; the discriminative task uses the judge — each with a guarantee the learned model can't make alone.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RESULTS · OFFICIAL SCORER, HELD-OUT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It works — and we can </a:t>
            </a:r>
            <a:r>
              <a:rPr sz="3100" b="1">
                <a:solidFill>
                  <a:srgbClr val="FF5A45"/>
                </a:solidFill>
                <a:latin typeface="Arial"/>
              </a:rPr>
              <a:t>prove it learned</a:t>
            </a:r>
            <a:r>
              <a:rPr sz="3100" b="1">
                <a:solidFill>
                  <a:srgbClr val="E8EDF5"/>
                </a:solidFill>
                <a:latin typeface="Arial"/>
              </a:rPr>
              <a:t>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468880"/>
          <a:ext cx="10515600" cy="23317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4572000"/>
                <a:gridCol w="3200400"/>
              </a:tblGrid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Task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Headline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Also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1 · Next-step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Top-1 0.937  ·  Top-5 1.000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MRR 0.97  (hybrid)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2 · Completion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Block 0.94  ·  100% rule-valid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token 0.71 · exact 0.28 · cat-tok 0.83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3 · Anomaly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F1 1.000  ·  rule-attr 0.972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encoder alone AUC 0.49 (honest)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Understanding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0.998 next-operation acc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learns function, not just names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9834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8"/>
                </a:solidFill>
                <a:latin typeface="Consolas"/>
              </a:rPr>
              <a:t>learns </a:t>
            </a:r>
            <a:r>
              <a:rPr sz="1200" b="1">
                <a:solidFill>
                  <a:srgbClr val="FF5A45"/>
                </a:solidFill>
                <a:latin typeface="Consolas"/>
              </a:rPr>
              <a:t>function</a:t>
            </a:r>
            <a:r>
              <a:rPr sz="1200" b="0">
                <a:solidFill>
                  <a:srgbClr val="9FB0C8"/>
                </a:solidFill>
                <a:latin typeface="Consolas"/>
              </a:rPr>
              <a:t>, not just names: predicts the right </a:t>
            </a:r>
            <a:r>
              <a:rPr sz="1200" b="1">
                <a:solidFill>
                  <a:srgbClr val="FF5A45"/>
                </a:solidFill>
                <a:latin typeface="Consolas"/>
              </a:rPr>
              <a:t>operation 99.8% of the time</a:t>
            </a:r>
            <a:r>
              <a:rPr sz="1200" b="0">
                <a:solidFill>
                  <a:srgbClr val="9FB0C8"/>
                </a:solidFill>
                <a:latin typeface="Consolas"/>
              </a:rPr>
              <a:t>   ·   100% rule-valid   ·   per-family T1: IGBT .955 / MOSFET .945 / IC .910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9FB0C8"/>
                </a:solidFill>
                <a:latin typeface="Arial"/>
              </a:rPr>
              <a:t>Honest provenance: </a:t>
            </a:r>
            <a:r>
              <a:rPr sz="1050" b="0">
                <a:solidFill>
                  <a:srgbClr val="6B7C99"/>
                </a:solidFill>
                <a:latin typeface="Arial"/>
              </a:rPr>
              <a:t>real numbers from the organizer's official scorer on a held-out self-eval split, from the completed ProcSeq Leonardo run (base, 16k steps). The learned anomaly encoder alone is ~chance (AUC 0.49) — the physics hybrid carries Task 3. Organizer hidden-test and 4th-family OOD are pending.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RESULTS · DID IT ACTUALLY LEARN?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Not just a score — </a:t>
            </a:r>
            <a:r>
              <a:rPr sz="3100" b="1">
                <a:solidFill>
                  <a:srgbClr val="FF5A45"/>
                </a:solidFill>
                <a:latin typeface="Arial"/>
              </a:rPr>
              <a:t>evidence it learned the logic.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3392424" cy="251460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962656"/>
            <a:ext cx="2880360" cy="2075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Learns the operation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0.998 next-OPERATION accuracy — it predicts the right kind of step (deposit / etch / clean), not just a memorized name. That's process logic, not pattern recall.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743200"/>
            <a:ext cx="3392424" cy="251460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962656"/>
            <a:ext cx="2880360" cy="2075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Always valid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100% of completions satisfy all 10 rules. Physics-vetoed beam search + repair means 0 illegal outputs — a guarantee a neural model alone can't give.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743200"/>
            <a:ext cx="3392424" cy="251460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962656"/>
            <a:ext cx="2880360" cy="2075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Honest on the hard task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The learned anomaly encoder alone is ~chance (AUC 0.49); the physics hybrid supplies the exact verdict (F1 1.0, rule-attr 0.97). We show both, not just the flattering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C99"/>
                </a:solidFill>
                <a:latin typeface="Consolas"/>
              </a:rPr>
              <a:t>Every number is held-out and official-scorer; the organizer hidden test and 4th-family OOD are marked pending — we report what's measured.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WHAT WE'D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Clear next steps, </a:t>
            </a:r>
            <a:r>
              <a:rPr sz="3100" b="1">
                <a:solidFill>
                  <a:srgbClr val="FF5A45"/>
                </a:solidFill>
                <a:latin typeface="Arial"/>
              </a:rPr>
              <a:t>already scoped.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Scale the curve</a:t>
            </a:r>
            <a:r>
              <a:rPr sz="1800" b="0">
                <a:solidFill>
                  <a:srgbClr val="9FB0C8"/>
                </a:solidFill>
                <a:latin typeface="Arial"/>
              </a:rPr>
              <a:t> — two larger model sizes / more steps to chart accuracy vs. compute.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Ontology input channel</a:t>
            </a:r>
            <a:r>
              <a:rPr sz="1800" b="0">
                <a:solidFill>
                  <a:srgbClr val="9FB0C8"/>
                </a:solidFill>
                <a:latin typeface="Arial"/>
              </a:rPr>
              <a:t> — feed each step's physical category into the encoder so it reads an unseen 4th family.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The honest OOD curve</a:t>
            </a:r>
            <a:r>
              <a:rPr sz="1800" b="0">
                <a:solidFill>
                  <a:srgbClr val="9FB0C8"/>
                </a:solidFill>
                <a:latin typeface="Arial"/>
              </a:rPr>
              <a:t> — run the novel-vocabulary stress test on the trained models (rename fraction 0 → 1).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Calibrate + per-family</a:t>
            </a:r>
            <a:r>
              <a:rPr sz="1800" b="0">
                <a:solidFill>
                  <a:srgbClr val="9FB0C8"/>
                </a:solidFill>
                <a:latin typeface="Arial"/>
              </a:rPr>
              <a:t> — calibrate the hybrid anomaly score and add a per-family results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ProcSeq</a:t>
            </a:r>
            <a:r>
              <a:rPr sz="1700" b="0">
                <a:solidFill>
                  <a:srgbClr val="9FB0C8"/>
                </a:solidFill>
                <a:latin typeface="Arial"/>
              </a:rPr>
              <a:t> — process logic, learned, guaranteed, and honestly benchmarked.   </a:t>
            </a:r>
            <a:r>
              <a:rPr sz="1700" b="1">
                <a:solidFill>
                  <a:srgbClr val="FF5A45"/>
                </a:solidFill>
                <a:latin typeface="Arial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